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1.png"/><Relationship Id="rId3" Type="http://schemas.openxmlformats.org/officeDocument/2006/relationships/image" Target="../media/image-4-1.png"/><Relationship Id="rId4" Type="http://schemas.openxmlformats.org/officeDocument/2006/relationships/image" Target="../media/image-4-1.png"/><Relationship Id="rId5" Type="http://schemas.openxmlformats.org/officeDocument/2006/relationships/image" Target="../media/image-4-1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D355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052560" y="-1188720"/>
            <a:ext cx="4754880" cy="4754880"/>
          </a:xfrm>
          <a:prstGeom prst="ellipse">
            <a:avLst/>
          </a:prstGeom>
          <a:solidFill>
            <a:srgbClr val="24425A"/>
          </a:solidFill>
          <a:ln/>
        </p:spPr>
      </p:sp>
      <p:sp>
        <p:nvSpPr>
          <p:cNvPr id="3" name="Shape 1"/>
          <p:cNvSpPr/>
          <p:nvPr/>
        </p:nvSpPr>
        <p:spPr>
          <a:xfrm>
            <a:off x="10607040" y="3291840"/>
            <a:ext cx="2926080" cy="2926080"/>
          </a:xfrm>
          <a:prstGeom prst="ellipse">
            <a:avLst/>
          </a:prstGeom>
          <a:solidFill>
            <a:srgbClr val="24425A"/>
          </a:solidFill>
          <a:ln/>
        </p:spPr>
      </p:sp>
      <p:sp>
        <p:nvSpPr>
          <p:cNvPr id="4" name="Shape 2"/>
          <p:cNvSpPr/>
          <p:nvPr/>
        </p:nvSpPr>
        <p:spPr>
          <a:xfrm>
            <a:off x="640080" y="914400"/>
            <a:ext cx="822960" cy="822960"/>
          </a:xfrm>
          <a:prstGeom prst="ellipse">
            <a:avLst/>
          </a:prstGeom>
          <a:solidFill>
            <a:srgbClr val="6FB3B8"/>
          </a:solidFill>
          <a:ln/>
        </p:spPr>
      </p:sp>
      <p:pic>
        <p:nvPicPr>
          <p:cNvPr id="5" name="Image 0" descr="/home/claude/icons/brain_FFFFF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1248" y="1115568"/>
            <a:ext cx="420624" cy="42062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40080" y="1965960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6FB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MENTAL HEALTH IN TECH SURVEY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594360" y="2331720"/>
            <a:ext cx="105156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Exploratory Data Analysis &amp; Workplace Insights</a:t>
            </a:r>
            <a:endParaRPr lang="en-US" sz="4000" dirty="0"/>
          </a:p>
        </p:txBody>
      </p:sp>
      <p:sp>
        <p:nvSpPr>
          <p:cNvPr id="8" name="Text 5"/>
          <p:cNvSpPr/>
          <p:nvPr/>
        </p:nvSpPr>
        <p:spPr>
          <a:xfrm>
            <a:off x="640080" y="3429000"/>
            <a:ext cx="8686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CADC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drives tech employees to seek mental health treatment — and how employers can close the gap.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640080" y="594360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1,259 Respondents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3108960" y="594360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48 Countries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5212080" y="594360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OSMI 2014 Dataset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76F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D35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We'll Cover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349240" cy="1417320"/>
          </a:xfrm>
          <a:prstGeom prst="roundRect">
            <a:avLst>
              <a:gd name="adj" fmla="val 5161"/>
            </a:avLst>
          </a:prstGeom>
          <a:solidFill>
            <a:srgbClr val="F4F7F7"/>
          </a:solidFill>
          <a:ln/>
        </p:spPr>
      </p:sp>
      <p:sp>
        <p:nvSpPr>
          <p:cNvPr id="5" name="Shape 3"/>
          <p:cNvSpPr/>
          <p:nvPr/>
        </p:nvSpPr>
        <p:spPr>
          <a:xfrm>
            <a:off x="777240" y="1947672"/>
            <a:ext cx="594360" cy="594360"/>
          </a:xfrm>
          <a:prstGeom prst="ellipse">
            <a:avLst/>
          </a:prstGeom>
          <a:solidFill>
            <a:srgbClr val="1D3557"/>
          </a:solidFill>
          <a:ln/>
        </p:spPr>
      </p:sp>
      <p:pic>
        <p:nvPicPr>
          <p:cNvPr id="6" name="Image 0" descr="/home/claude/icons/building_FFFFF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2084832"/>
            <a:ext cx="320040" cy="3200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508760" y="1856232"/>
            <a:ext cx="4251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D3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Dataset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1508760" y="2221992"/>
            <a:ext cx="42062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Scope, source, and structure of the 2014 OSMI survey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6217920" y="1691640"/>
            <a:ext cx="5349240" cy="1417320"/>
          </a:xfrm>
          <a:prstGeom prst="roundRect">
            <a:avLst>
              <a:gd name="adj" fmla="val 5161"/>
            </a:avLst>
          </a:prstGeom>
          <a:solidFill>
            <a:srgbClr val="F4F7F7"/>
          </a:solidFill>
          <a:ln/>
        </p:spPr>
      </p:sp>
      <p:sp>
        <p:nvSpPr>
          <p:cNvPr id="10" name="Shape 7"/>
          <p:cNvSpPr/>
          <p:nvPr/>
        </p:nvSpPr>
        <p:spPr>
          <a:xfrm>
            <a:off x="6446520" y="1947672"/>
            <a:ext cx="594360" cy="594360"/>
          </a:xfrm>
          <a:prstGeom prst="ellipse">
            <a:avLst/>
          </a:prstGeom>
          <a:solidFill>
            <a:srgbClr val="1D3557"/>
          </a:solidFill>
          <a:ln/>
        </p:spPr>
      </p:sp>
      <p:pic>
        <p:nvPicPr>
          <p:cNvPr id="11" name="Image 1" descr="/home/claude/icons/broom_FFFFFF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0" y="2084832"/>
            <a:ext cx="320040" cy="32004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178040" y="1856232"/>
            <a:ext cx="4251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D3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Cleaning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7178040" y="2221992"/>
            <a:ext cx="42062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Fixing age outliers, gender free-text, and contextual missing values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548640" y="3383280"/>
            <a:ext cx="5349240" cy="1417320"/>
          </a:xfrm>
          <a:prstGeom prst="roundRect">
            <a:avLst>
              <a:gd name="adj" fmla="val 5161"/>
            </a:avLst>
          </a:prstGeom>
          <a:solidFill>
            <a:srgbClr val="F4F7F7"/>
          </a:solidFill>
          <a:ln/>
        </p:spPr>
      </p:sp>
      <p:sp>
        <p:nvSpPr>
          <p:cNvPr id="15" name="Shape 11"/>
          <p:cNvSpPr/>
          <p:nvPr/>
        </p:nvSpPr>
        <p:spPr>
          <a:xfrm>
            <a:off x="777240" y="3639312"/>
            <a:ext cx="594360" cy="594360"/>
          </a:xfrm>
          <a:prstGeom prst="ellipse">
            <a:avLst/>
          </a:prstGeom>
          <a:solidFill>
            <a:srgbClr val="1D3557"/>
          </a:solidFill>
          <a:ln/>
        </p:spPr>
      </p:sp>
      <p:pic>
        <p:nvPicPr>
          <p:cNvPr id="16" name="Image 2" descr="/home/claude/icons/users_FFFFFF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3776472"/>
            <a:ext cx="320040" cy="32004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508760" y="3547872"/>
            <a:ext cx="4251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D3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Responded</a:t>
            </a:r>
            <a:endParaRPr lang="en-US" sz="1500" dirty="0"/>
          </a:p>
        </p:txBody>
      </p:sp>
      <p:sp>
        <p:nvSpPr>
          <p:cNvPr id="18" name="Text 13"/>
          <p:cNvSpPr/>
          <p:nvPr/>
        </p:nvSpPr>
        <p:spPr>
          <a:xfrm>
            <a:off x="1508760" y="3913632"/>
            <a:ext cx="42062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Age, gender, and geographic makeup of the sample</a:t>
            </a:r>
            <a:endParaRPr lang="en-US" sz="1150" dirty="0"/>
          </a:p>
        </p:txBody>
      </p:sp>
      <p:sp>
        <p:nvSpPr>
          <p:cNvPr id="19" name="Shape 14"/>
          <p:cNvSpPr/>
          <p:nvPr/>
        </p:nvSpPr>
        <p:spPr>
          <a:xfrm>
            <a:off x="6217920" y="3383280"/>
            <a:ext cx="5349240" cy="1417320"/>
          </a:xfrm>
          <a:prstGeom prst="roundRect">
            <a:avLst>
              <a:gd name="adj" fmla="val 5161"/>
            </a:avLst>
          </a:prstGeom>
          <a:solidFill>
            <a:srgbClr val="F4F7F7"/>
          </a:solidFill>
          <a:ln/>
        </p:spPr>
      </p:sp>
      <p:sp>
        <p:nvSpPr>
          <p:cNvPr id="20" name="Shape 15"/>
          <p:cNvSpPr/>
          <p:nvPr/>
        </p:nvSpPr>
        <p:spPr>
          <a:xfrm>
            <a:off x="6446520" y="3639312"/>
            <a:ext cx="594360" cy="594360"/>
          </a:xfrm>
          <a:prstGeom prst="ellipse">
            <a:avLst/>
          </a:prstGeom>
          <a:solidFill>
            <a:srgbClr val="1D3557"/>
          </a:solidFill>
          <a:ln/>
        </p:spPr>
      </p:sp>
      <p:pic>
        <p:nvPicPr>
          <p:cNvPr id="21" name="Image 3" descr="/home/claude/icons/chart_FFFFFF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83680" y="3776472"/>
            <a:ext cx="320040" cy="32004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178040" y="3547872"/>
            <a:ext cx="4251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D3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Drives Treatment</a:t>
            </a:r>
            <a:endParaRPr lang="en-US" sz="1500" dirty="0"/>
          </a:p>
        </p:txBody>
      </p:sp>
      <p:sp>
        <p:nvSpPr>
          <p:cNvPr id="23" name="Text 17"/>
          <p:cNvSpPr/>
          <p:nvPr/>
        </p:nvSpPr>
        <p:spPr>
          <a:xfrm>
            <a:off x="7178040" y="3913632"/>
            <a:ext cx="42062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Family history, work interference, and workplace policy</a:t>
            </a:r>
            <a:endParaRPr lang="en-US" sz="1150" dirty="0"/>
          </a:p>
        </p:txBody>
      </p:sp>
      <p:sp>
        <p:nvSpPr>
          <p:cNvPr id="24" name="Shape 18"/>
          <p:cNvSpPr/>
          <p:nvPr/>
        </p:nvSpPr>
        <p:spPr>
          <a:xfrm>
            <a:off x="548640" y="5074920"/>
            <a:ext cx="5349240" cy="1417320"/>
          </a:xfrm>
          <a:prstGeom prst="roundRect">
            <a:avLst>
              <a:gd name="adj" fmla="val 5161"/>
            </a:avLst>
          </a:prstGeom>
          <a:solidFill>
            <a:srgbClr val="F4F7F7"/>
          </a:solidFill>
          <a:ln/>
        </p:spPr>
      </p:sp>
      <p:sp>
        <p:nvSpPr>
          <p:cNvPr id="25" name="Shape 19"/>
          <p:cNvSpPr/>
          <p:nvPr/>
        </p:nvSpPr>
        <p:spPr>
          <a:xfrm>
            <a:off x="777240" y="5330952"/>
            <a:ext cx="594360" cy="594360"/>
          </a:xfrm>
          <a:prstGeom prst="ellipse">
            <a:avLst/>
          </a:prstGeom>
          <a:solidFill>
            <a:srgbClr val="1D3557"/>
          </a:solidFill>
          <a:ln/>
        </p:spPr>
      </p:sp>
      <p:pic>
        <p:nvPicPr>
          <p:cNvPr id="26" name="Image 4" descr="/home/claude/icons/shield_FFFFFF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4400" y="5468112"/>
            <a:ext cx="320040" cy="320040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1508760" y="5239512"/>
            <a:ext cx="4251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D3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Communication Gap</a:t>
            </a:r>
            <a:endParaRPr lang="en-US" sz="1500" dirty="0"/>
          </a:p>
        </p:txBody>
      </p:sp>
      <p:sp>
        <p:nvSpPr>
          <p:cNvPr id="28" name="Text 21"/>
          <p:cNvSpPr/>
          <p:nvPr/>
        </p:nvSpPr>
        <p:spPr>
          <a:xfrm>
            <a:off x="1508760" y="5605272"/>
            <a:ext cx="42062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Anonymity and leave-policy awareness</a:t>
            </a:r>
            <a:endParaRPr lang="en-US" sz="1150" dirty="0"/>
          </a:p>
        </p:txBody>
      </p:sp>
      <p:sp>
        <p:nvSpPr>
          <p:cNvPr id="29" name="Shape 22"/>
          <p:cNvSpPr/>
          <p:nvPr/>
        </p:nvSpPr>
        <p:spPr>
          <a:xfrm>
            <a:off x="6217920" y="5074920"/>
            <a:ext cx="5349240" cy="1417320"/>
          </a:xfrm>
          <a:prstGeom prst="roundRect">
            <a:avLst>
              <a:gd name="adj" fmla="val 5161"/>
            </a:avLst>
          </a:prstGeom>
          <a:solidFill>
            <a:srgbClr val="F4F7F7"/>
          </a:solidFill>
          <a:ln/>
        </p:spPr>
      </p:sp>
      <p:sp>
        <p:nvSpPr>
          <p:cNvPr id="30" name="Shape 23"/>
          <p:cNvSpPr/>
          <p:nvPr/>
        </p:nvSpPr>
        <p:spPr>
          <a:xfrm>
            <a:off x="6446520" y="5330952"/>
            <a:ext cx="594360" cy="594360"/>
          </a:xfrm>
          <a:prstGeom prst="ellipse">
            <a:avLst/>
          </a:prstGeom>
          <a:solidFill>
            <a:srgbClr val="1D3557"/>
          </a:solidFill>
          <a:ln/>
        </p:spPr>
      </p:sp>
      <p:pic>
        <p:nvPicPr>
          <p:cNvPr id="31" name="Image 5" descr="/home/claude/icons/bulb_FFFFFF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83680" y="5468112"/>
            <a:ext cx="320040" cy="320040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7178040" y="5239512"/>
            <a:ext cx="4251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D3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Recommendations</a:t>
            </a:r>
            <a:endParaRPr lang="en-US" sz="1500" dirty="0"/>
          </a:p>
        </p:txBody>
      </p:sp>
      <p:sp>
        <p:nvSpPr>
          <p:cNvPr id="33" name="Text 25"/>
          <p:cNvSpPr/>
          <p:nvPr/>
        </p:nvSpPr>
        <p:spPr>
          <a:xfrm>
            <a:off x="7178040" y="5605272"/>
            <a:ext cx="42062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Actionable steps for tech employers</a:t>
            </a:r>
            <a:endParaRPr lang="en-US" sz="1150" dirty="0"/>
          </a:p>
        </p:txBody>
      </p:sp>
      <p:sp>
        <p:nvSpPr>
          <p:cNvPr id="34" name="Text 26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Mental Health in Tech Survey  |  EDA &amp; Insights</a:t>
            </a:r>
            <a:endParaRPr lang="en-US" sz="900" dirty="0"/>
          </a:p>
        </p:txBody>
      </p:sp>
      <p:sp>
        <p:nvSpPr>
          <p:cNvPr id="35" name="Text 27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76F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ABOUT THE DATA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D35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Snapshot of the Tech Workforce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658368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Open Sourcing Mental Illness (OSMI) 2014 survey asked tech employees worldwide about demographics, workplace policy, and their attitudes toward mental health.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2468880"/>
            <a:ext cx="2514600" cy="1554480"/>
          </a:xfrm>
          <a:prstGeom prst="roundRect">
            <a:avLst>
              <a:gd name="adj" fmla="val 4706"/>
            </a:avLst>
          </a:prstGeom>
          <a:solidFill>
            <a:srgbClr val="1D3557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2670048"/>
            <a:ext cx="2514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1,259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548640" y="3383280"/>
            <a:ext cx="2514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Survey Responses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291840" y="2468880"/>
            <a:ext cx="2514600" cy="1554480"/>
          </a:xfrm>
          <a:prstGeom prst="roundRect">
            <a:avLst>
              <a:gd name="adj" fmla="val 4706"/>
            </a:avLst>
          </a:prstGeom>
          <a:solidFill>
            <a:srgbClr val="6FB3B8"/>
          </a:solidFill>
          <a:ln/>
        </p:spPr>
      </p:sp>
      <p:sp>
        <p:nvSpPr>
          <p:cNvPr id="9" name="Text 7"/>
          <p:cNvSpPr/>
          <p:nvPr/>
        </p:nvSpPr>
        <p:spPr>
          <a:xfrm>
            <a:off x="3291840" y="2670048"/>
            <a:ext cx="2514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27</a:t>
            </a:r>
            <a:endParaRPr lang="en-US" sz="3400" dirty="0"/>
          </a:p>
        </p:txBody>
      </p:sp>
      <p:sp>
        <p:nvSpPr>
          <p:cNvPr id="10" name="Text 8"/>
          <p:cNvSpPr/>
          <p:nvPr/>
        </p:nvSpPr>
        <p:spPr>
          <a:xfrm>
            <a:off x="3291840" y="3383280"/>
            <a:ext cx="2514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Asked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035040" y="2468880"/>
            <a:ext cx="2514600" cy="1554480"/>
          </a:xfrm>
          <a:prstGeom prst="roundRect">
            <a:avLst>
              <a:gd name="adj" fmla="val 4706"/>
            </a:avLst>
          </a:prstGeom>
          <a:solidFill>
            <a:srgbClr val="1D3557"/>
          </a:solidFill>
          <a:ln/>
        </p:spPr>
      </p:sp>
      <p:sp>
        <p:nvSpPr>
          <p:cNvPr id="12" name="Text 10"/>
          <p:cNvSpPr/>
          <p:nvPr/>
        </p:nvSpPr>
        <p:spPr>
          <a:xfrm>
            <a:off x="6035040" y="2670048"/>
            <a:ext cx="2514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48</a:t>
            </a:r>
            <a:endParaRPr lang="en-US" sz="3400" dirty="0"/>
          </a:p>
        </p:txBody>
      </p:sp>
      <p:sp>
        <p:nvSpPr>
          <p:cNvPr id="13" name="Text 11"/>
          <p:cNvSpPr/>
          <p:nvPr/>
        </p:nvSpPr>
        <p:spPr>
          <a:xfrm>
            <a:off x="6035040" y="3383280"/>
            <a:ext cx="2514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Countries Represented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8778240" y="2468880"/>
            <a:ext cx="2514600" cy="1554480"/>
          </a:xfrm>
          <a:prstGeom prst="roundRect">
            <a:avLst>
              <a:gd name="adj" fmla="val 4706"/>
            </a:avLst>
          </a:prstGeom>
          <a:solidFill>
            <a:srgbClr val="6FB3B8"/>
          </a:solidFill>
          <a:ln/>
        </p:spPr>
      </p:sp>
      <p:sp>
        <p:nvSpPr>
          <p:cNvPr id="15" name="Text 13"/>
          <p:cNvSpPr/>
          <p:nvPr/>
        </p:nvSpPr>
        <p:spPr>
          <a:xfrm>
            <a:off x="8778240" y="2670048"/>
            <a:ext cx="2514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50.5%</a:t>
            </a:r>
            <a:endParaRPr lang="en-US" sz="3400" dirty="0"/>
          </a:p>
        </p:txBody>
      </p:sp>
      <p:sp>
        <p:nvSpPr>
          <p:cNvPr id="16" name="Text 14"/>
          <p:cNvSpPr/>
          <p:nvPr/>
        </p:nvSpPr>
        <p:spPr>
          <a:xfrm>
            <a:off x="8778240" y="3383280"/>
            <a:ext cx="2514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Sought Treatment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48640" y="434340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D3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variable of interest: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548640" y="466344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treatment — whether the respondent has sought treatment for a mental health condition. Nearly every chart in this deck explores what relates to this outcome.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Mental Health in Tech Survey  |  EDA &amp; Insights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76F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PREPARATION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D35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Raw Survey to Analysis-Ready Data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11109960" cy="786384"/>
          </a:xfrm>
          <a:prstGeom prst="roundRect">
            <a:avLst>
              <a:gd name="adj" fmla="val 6977"/>
            </a:avLst>
          </a:prstGeom>
          <a:solidFill>
            <a:srgbClr val="F4F7F7"/>
          </a:solidFill>
          <a:ln w="9525">
            <a:solidFill>
              <a:srgbClr val="E5E9E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655064"/>
            <a:ext cx="324612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D3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 had impossible values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4160520" y="1655064"/>
            <a:ext cx="370332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Negative ages and one entry of 99,999,999,999</a:t>
            </a:r>
            <a:endParaRPr lang="en-US" sz="1150" dirty="0"/>
          </a:p>
        </p:txBody>
      </p:sp>
      <p:pic>
        <p:nvPicPr>
          <p:cNvPr id="7" name="Image 0" descr="/home/claude/icons/check_1D3557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01000" y="1856232"/>
            <a:ext cx="219456" cy="21945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321040" y="1655064"/>
            <a:ext cx="320040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Filtered to a realistic 18–75 range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548640" y="2496312"/>
            <a:ext cx="11109960" cy="786384"/>
          </a:xfrm>
          <a:prstGeom prst="roundRect">
            <a:avLst>
              <a:gd name="adj" fmla="val 6977"/>
            </a:avLst>
          </a:prstGeom>
          <a:solidFill>
            <a:srgbClr val="FFFFFF"/>
          </a:solidFill>
          <a:ln w="9525">
            <a:solidFill>
              <a:srgbClr val="E5E9EA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77240" y="2551176"/>
            <a:ext cx="324612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D3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Gender had 49 free-text spellings</a:t>
            </a:r>
            <a:endParaRPr lang="en-US" sz="1250" dirty="0"/>
          </a:p>
        </p:txBody>
      </p:sp>
      <p:sp>
        <p:nvSpPr>
          <p:cNvPr id="11" name="Text 8"/>
          <p:cNvSpPr/>
          <p:nvPr/>
        </p:nvSpPr>
        <p:spPr>
          <a:xfrm>
            <a:off x="4160520" y="2551176"/>
            <a:ext cx="370332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"M", "male", "Cis Male", "malr"...</a:t>
            </a:r>
            <a:endParaRPr lang="en-US" sz="1150" dirty="0"/>
          </a:p>
        </p:txBody>
      </p:sp>
      <p:pic>
        <p:nvPicPr>
          <p:cNvPr id="12" name="Image 1" descr="/home/claude/icons/check_1D3557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01000" y="2752344"/>
            <a:ext cx="219456" cy="219456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8321040" y="2551176"/>
            <a:ext cx="320040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Standardized into Male / Female / Other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548640" y="3392424"/>
            <a:ext cx="11109960" cy="786384"/>
          </a:xfrm>
          <a:prstGeom prst="roundRect">
            <a:avLst>
              <a:gd name="adj" fmla="val 6977"/>
            </a:avLst>
          </a:prstGeom>
          <a:solidFill>
            <a:srgbClr val="F4F7F7"/>
          </a:solidFill>
          <a:ln w="9525">
            <a:solidFill>
              <a:srgbClr val="E5E9EA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777240" y="3447288"/>
            <a:ext cx="324612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D3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was 41% missing</a:t>
            </a:r>
            <a:endParaRPr lang="en-US" sz="1250" dirty="0"/>
          </a:p>
        </p:txBody>
      </p:sp>
      <p:sp>
        <p:nvSpPr>
          <p:cNvPr id="16" name="Text 12"/>
          <p:cNvSpPr/>
          <p:nvPr/>
        </p:nvSpPr>
        <p:spPr>
          <a:xfrm>
            <a:off x="4160520" y="3447288"/>
            <a:ext cx="370332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meaningful for US respondents</a:t>
            </a:r>
            <a:endParaRPr lang="en-US" sz="1150" dirty="0"/>
          </a:p>
        </p:txBody>
      </p:sp>
      <p:pic>
        <p:nvPicPr>
          <p:cNvPr id="17" name="Image 2" descr="/home/claude/icons/check_1D3557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1000" y="3648456"/>
            <a:ext cx="219456" cy="219456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321040" y="3447288"/>
            <a:ext cx="320040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Filled with "Not Applicable" for non-US rows</a:t>
            </a:r>
            <a:endParaRPr lang="en-US" sz="1150" dirty="0"/>
          </a:p>
        </p:txBody>
      </p:sp>
      <p:sp>
        <p:nvSpPr>
          <p:cNvPr id="19" name="Shape 14"/>
          <p:cNvSpPr/>
          <p:nvPr/>
        </p:nvSpPr>
        <p:spPr>
          <a:xfrm>
            <a:off x="548640" y="4288536"/>
            <a:ext cx="11109960" cy="786384"/>
          </a:xfrm>
          <a:prstGeom prst="roundRect">
            <a:avLst>
              <a:gd name="adj" fmla="val 6977"/>
            </a:avLst>
          </a:prstGeom>
          <a:solidFill>
            <a:srgbClr val="FFFFFF"/>
          </a:solidFill>
          <a:ln w="9525">
            <a:solidFill>
              <a:srgbClr val="E5E9EA"/>
            </a:solidFill>
            <a:prstDash val="solid"/>
          </a:ln>
        </p:spPr>
      </p:sp>
      <p:sp>
        <p:nvSpPr>
          <p:cNvPr id="20" name="Text 15"/>
          <p:cNvSpPr/>
          <p:nvPr/>
        </p:nvSpPr>
        <p:spPr>
          <a:xfrm>
            <a:off x="777240" y="4343400"/>
            <a:ext cx="324612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D3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work_interfere was 21% missing</a:t>
            </a:r>
            <a:endParaRPr lang="en-US" sz="1250" dirty="0"/>
          </a:p>
        </p:txBody>
      </p:sp>
      <p:sp>
        <p:nvSpPr>
          <p:cNvPr id="21" name="Text 16"/>
          <p:cNvSpPr/>
          <p:nvPr/>
        </p:nvSpPr>
        <p:spPr>
          <a:xfrm>
            <a:off x="4160520" y="4343400"/>
            <a:ext cx="370332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asked of those with a condition</a:t>
            </a:r>
            <a:endParaRPr lang="en-US" sz="1150" dirty="0"/>
          </a:p>
        </p:txBody>
      </p:sp>
      <p:pic>
        <p:nvPicPr>
          <p:cNvPr id="22" name="Image 3" descr="/home/claude/icons/check_1D3557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01000" y="4544568"/>
            <a:ext cx="219456" cy="219456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8321040" y="4343400"/>
            <a:ext cx="320040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Filled with "Not Applicable" (meaningful NaN)</a:t>
            </a:r>
            <a:endParaRPr lang="en-US" sz="1150" dirty="0"/>
          </a:p>
        </p:txBody>
      </p:sp>
      <p:sp>
        <p:nvSpPr>
          <p:cNvPr id="24" name="Shape 18"/>
          <p:cNvSpPr/>
          <p:nvPr/>
        </p:nvSpPr>
        <p:spPr>
          <a:xfrm>
            <a:off x="548640" y="5184648"/>
            <a:ext cx="11109960" cy="786384"/>
          </a:xfrm>
          <a:prstGeom prst="roundRect">
            <a:avLst>
              <a:gd name="adj" fmla="val 6977"/>
            </a:avLst>
          </a:prstGeom>
          <a:solidFill>
            <a:srgbClr val="F4F7F7"/>
          </a:solidFill>
          <a:ln w="9525">
            <a:solidFill>
              <a:srgbClr val="E5E9EA"/>
            </a:solidFill>
            <a:prstDash val="solid"/>
          </a:ln>
        </p:spPr>
      </p:sp>
      <p:sp>
        <p:nvSpPr>
          <p:cNvPr id="25" name="Text 19"/>
          <p:cNvSpPr/>
          <p:nvPr/>
        </p:nvSpPr>
        <p:spPr>
          <a:xfrm>
            <a:off x="777240" y="5239512"/>
            <a:ext cx="324612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D3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comments &amp; Timestamp not useful</a:t>
            </a:r>
            <a:endParaRPr lang="en-US" sz="1250" dirty="0"/>
          </a:p>
        </p:txBody>
      </p:sp>
      <p:sp>
        <p:nvSpPr>
          <p:cNvPr id="26" name="Text 20"/>
          <p:cNvSpPr/>
          <p:nvPr/>
        </p:nvSpPr>
        <p:spPr>
          <a:xfrm>
            <a:off x="4160520" y="5239512"/>
            <a:ext cx="370332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87% empty free text / submission metadata only</a:t>
            </a:r>
            <a:endParaRPr lang="en-US" sz="1150" dirty="0"/>
          </a:p>
        </p:txBody>
      </p:sp>
      <p:pic>
        <p:nvPicPr>
          <p:cNvPr id="27" name="Image 4" descr="/home/claude/icons/check_1D3557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01000" y="5440680"/>
            <a:ext cx="219456" cy="219456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8321040" y="5239512"/>
            <a:ext cx="320040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Dropped from the analysis</a:t>
            </a:r>
            <a:endParaRPr lang="en-US" sz="1150" dirty="0"/>
          </a:p>
        </p:txBody>
      </p:sp>
      <p:sp>
        <p:nvSpPr>
          <p:cNvPr id="29" name="Text 22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Mental Health in Tech Survey  |  EDA &amp; Insights</a:t>
            </a:r>
            <a:endParaRPr lang="en-US" sz="900" dirty="0"/>
          </a:p>
        </p:txBody>
      </p:sp>
      <p:sp>
        <p:nvSpPr>
          <p:cNvPr id="30" name="Text 23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76F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RESPONDED · 01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D35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Young, Early-Career Workforce</a:t>
            </a:r>
            <a:endParaRPr lang="en-US" sz="2800" dirty="0"/>
          </a:p>
        </p:txBody>
      </p:sp>
      <p:pic>
        <p:nvPicPr>
          <p:cNvPr id="4" name="Image 0" descr="/home/claude/chart_imgs/age_dist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48640" y="1554480"/>
            <a:ext cx="6949440" cy="45720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772400" y="1554480"/>
            <a:ext cx="3886200" cy="4572000"/>
          </a:xfrm>
          <a:prstGeom prst="roundRect">
            <a:avLst>
              <a:gd name="adj" fmla="val 1882"/>
            </a:avLst>
          </a:prstGeom>
          <a:solidFill>
            <a:srgbClr val="F4F7F7"/>
          </a:solidFill>
          <a:ln/>
        </p:spPr>
      </p:sp>
      <p:sp>
        <p:nvSpPr>
          <p:cNvPr id="6" name="Text 3"/>
          <p:cNvSpPr/>
          <p:nvPr/>
        </p:nvSpPr>
        <p:spPr>
          <a:xfrm>
            <a:off x="8046720" y="182880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76F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8046720" y="2194560"/>
            <a:ext cx="329184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Respondents are concentrated between ages 23–40, peaking around 28–32.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8046720" y="361188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D3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TAKEAWAY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8046720" y="3977640"/>
            <a:ext cx="329184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Mental health programs should be designed for an early-to-mid career audience — not a generic, age-agnostic workforce.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Mental Health in Tech Survey  |  EDA &amp; Insights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76F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RESPONDED · 02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D35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Gender Skew &amp; Geographic Concentration</a:t>
            </a:r>
            <a:endParaRPr lang="en-US" sz="2700" dirty="0"/>
          </a:p>
        </p:txBody>
      </p:sp>
      <p:pic>
        <p:nvPicPr>
          <p:cNvPr id="4" name="Image 0" descr="/home/claude/chart_imgs/gender_dist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57200" y="1508760"/>
            <a:ext cx="5394960" cy="4572000"/>
          </a:xfrm>
          <a:prstGeom prst="rect">
            <a:avLst/>
          </a:prstGeom>
        </p:spPr>
      </p:pic>
      <p:pic>
        <p:nvPicPr>
          <p:cNvPr id="5" name="Image 1" descr="/home/claude/chart_imgs/top_countries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6126480" y="1508760"/>
            <a:ext cx="5577840" cy="457200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457200" y="6053328"/>
            <a:ext cx="5394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79% Male · 20% Female · &lt;1% Other — mirrors tech's gender gap.</a:t>
            </a:r>
            <a:endParaRPr lang="en-US" sz="1050" dirty="0"/>
          </a:p>
        </p:txBody>
      </p:sp>
      <p:sp>
        <p:nvSpPr>
          <p:cNvPr id="7" name="Text 3"/>
          <p:cNvSpPr/>
          <p:nvPr/>
        </p:nvSpPr>
        <p:spPr>
          <a:xfrm>
            <a:off x="6126480" y="6053328"/>
            <a:ext cx="5577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 &amp; UK alone account for ~75% of respondents.</a:t>
            </a:r>
            <a:endParaRPr lang="en-US" sz="1050" dirty="0"/>
          </a:p>
        </p:txBody>
      </p:sp>
      <p:sp>
        <p:nvSpPr>
          <p:cNvPr id="8" name="Text 4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Mental Health in Tech Survey  |  EDA &amp; Insights</a:t>
            </a:r>
            <a:endParaRPr lang="en-US" sz="900" dirty="0"/>
          </a:p>
        </p:txBody>
      </p:sp>
      <p:sp>
        <p:nvSpPr>
          <p:cNvPr id="9" name="Text 5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D355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FB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CORE QUESTION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Who Seeks Mental Health Treatment?</a:t>
            </a:r>
            <a:endParaRPr lang="en-US" sz="3000" dirty="0"/>
          </a:p>
        </p:txBody>
      </p:sp>
      <p:pic>
        <p:nvPicPr>
          <p:cNvPr id="4" name="Image 0" descr="/home/claude/chart_imgs/treatment_pie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822960" y="1600200"/>
            <a:ext cx="5120640" cy="475488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400800" y="1920240"/>
            <a:ext cx="5212080" cy="1508760"/>
          </a:xfrm>
          <a:prstGeom prst="roundRect">
            <a:avLst>
              <a:gd name="adj" fmla="val 4848"/>
            </a:avLst>
          </a:prstGeom>
          <a:solidFill>
            <a:srgbClr val="24425A"/>
          </a:solidFill>
          <a:ln/>
        </p:spPr>
      </p:sp>
      <p:sp>
        <p:nvSpPr>
          <p:cNvPr id="6" name="Text 3"/>
          <p:cNvSpPr/>
          <p:nvPr/>
        </p:nvSpPr>
        <p:spPr>
          <a:xfrm>
            <a:off x="6675120" y="2057400"/>
            <a:ext cx="20116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6FB3B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50.5%</a:t>
            </a:r>
            <a:endParaRPr lang="en-US" sz="4400" dirty="0"/>
          </a:p>
        </p:txBody>
      </p:sp>
      <p:sp>
        <p:nvSpPr>
          <p:cNvPr id="7" name="Text 4"/>
          <p:cNvSpPr/>
          <p:nvPr/>
        </p:nvSpPr>
        <p:spPr>
          <a:xfrm>
            <a:off x="8778240" y="2057400"/>
            <a:ext cx="26517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respondents have sought treatment for a mental health condition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6400800" y="3749040"/>
            <a:ext cx="5212080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rgbClr val="CADC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near-perfect 50/50 split makes treatment a well-balanced outcome — any factor that correlates strongly with it, as explored on the following slides, is a meaningful signal rather than a statistical artifact.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AFC3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Mental Health in Tech Survey  |  EDA &amp; Insights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FC3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76F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DRIVES TREATMENT · 01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D35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Family History Is the Strongest Signal</a:t>
            </a:r>
            <a:endParaRPr lang="en-US" sz="2800" dirty="0"/>
          </a:p>
        </p:txBody>
      </p:sp>
      <p:pic>
        <p:nvPicPr>
          <p:cNvPr id="4" name="Image 0" descr="/home/claude/chart_imgs/family_history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48640" y="1554480"/>
            <a:ext cx="6766560" cy="45720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635240" y="1554480"/>
            <a:ext cx="4023360" cy="1965960"/>
          </a:xfrm>
          <a:prstGeom prst="roundRect">
            <a:avLst>
              <a:gd name="adj" fmla="val 3721"/>
            </a:avLst>
          </a:prstGeom>
          <a:solidFill>
            <a:srgbClr val="E76F51"/>
          </a:solidFill>
          <a:ln/>
        </p:spPr>
      </p:sp>
      <p:sp>
        <p:nvSpPr>
          <p:cNvPr id="6" name="Text 3"/>
          <p:cNvSpPr/>
          <p:nvPr/>
        </p:nvSpPr>
        <p:spPr>
          <a:xfrm>
            <a:off x="7909560" y="1691640"/>
            <a:ext cx="1828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74%</a:t>
            </a:r>
            <a:endParaRPr lang="en-US" sz="4000" dirty="0"/>
          </a:p>
        </p:txBody>
      </p:sp>
      <p:sp>
        <p:nvSpPr>
          <p:cNvPr id="7" name="Text 4"/>
          <p:cNvSpPr/>
          <p:nvPr/>
        </p:nvSpPr>
        <p:spPr>
          <a:xfrm>
            <a:off x="7909560" y="2606040"/>
            <a:ext cx="347472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respondents WITH a family history sought treatment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7635240" y="3703320"/>
            <a:ext cx="4023360" cy="1965960"/>
          </a:xfrm>
          <a:prstGeom prst="roundRect">
            <a:avLst>
              <a:gd name="adj" fmla="val 3721"/>
            </a:avLst>
          </a:prstGeom>
          <a:solidFill>
            <a:srgbClr val="F4F7F7"/>
          </a:solidFill>
          <a:ln/>
        </p:spPr>
      </p:sp>
      <p:sp>
        <p:nvSpPr>
          <p:cNvPr id="9" name="Text 6"/>
          <p:cNvSpPr/>
          <p:nvPr/>
        </p:nvSpPr>
        <p:spPr>
          <a:xfrm>
            <a:off x="7909560" y="3840480"/>
            <a:ext cx="1828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D35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35%</a:t>
            </a:r>
            <a:endParaRPr lang="en-US" sz="4000" dirty="0"/>
          </a:p>
        </p:txBody>
      </p:sp>
      <p:sp>
        <p:nvSpPr>
          <p:cNvPr id="10" name="Text 7"/>
          <p:cNvSpPr/>
          <p:nvPr/>
        </p:nvSpPr>
        <p:spPr>
          <a:xfrm>
            <a:off x="7909560" y="4754880"/>
            <a:ext cx="347472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respondents WITHOUT a family history sought treatment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Mental Health in Tech Survey  |  EDA &amp; Insights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76F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DRIVES TREATMENT · 02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D35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Treatment-Seeking Tracks Work Interference</a:t>
            </a:r>
            <a:endParaRPr lang="en-US" sz="2700" dirty="0"/>
          </a:p>
        </p:txBody>
      </p:sp>
      <p:pic>
        <p:nvPicPr>
          <p:cNvPr id="4" name="Image 0" descr="/home/claude/chart_imgs/work_interfere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48640" y="1508760"/>
            <a:ext cx="7315200" cy="466344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229600" y="1508760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D3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Treatment rate by interference level:</a:t>
            </a:r>
            <a:endParaRPr lang="en-US" sz="1250" dirty="0"/>
          </a:p>
        </p:txBody>
      </p:sp>
      <p:sp>
        <p:nvSpPr>
          <p:cNvPr id="6" name="Shape 3"/>
          <p:cNvSpPr/>
          <p:nvPr/>
        </p:nvSpPr>
        <p:spPr>
          <a:xfrm>
            <a:off x="8229600" y="1965960"/>
            <a:ext cx="3383280" cy="594360"/>
          </a:xfrm>
          <a:prstGeom prst="roundRect">
            <a:avLst>
              <a:gd name="adj" fmla="val 9231"/>
            </a:avLst>
          </a:prstGeom>
          <a:solidFill>
            <a:srgbClr val="F4F7F7"/>
          </a:solidFill>
          <a:ln/>
        </p:spPr>
      </p:sp>
      <p:sp>
        <p:nvSpPr>
          <p:cNvPr id="7" name="Text 4"/>
          <p:cNvSpPr/>
          <p:nvPr/>
        </p:nvSpPr>
        <p:spPr>
          <a:xfrm>
            <a:off x="8412480" y="1965960"/>
            <a:ext cx="1828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10241280" y="1965960"/>
            <a:ext cx="1188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1D35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14%</a:t>
            </a:r>
            <a:endParaRPr lang="en-US" sz="1800" dirty="0"/>
          </a:p>
        </p:txBody>
      </p:sp>
      <p:sp>
        <p:nvSpPr>
          <p:cNvPr id="9" name="Shape 6"/>
          <p:cNvSpPr/>
          <p:nvPr/>
        </p:nvSpPr>
        <p:spPr>
          <a:xfrm>
            <a:off x="8229600" y="2743200"/>
            <a:ext cx="3383280" cy="594360"/>
          </a:xfrm>
          <a:prstGeom prst="roundRect">
            <a:avLst>
              <a:gd name="adj" fmla="val 9231"/>
            </a:avLst>
          </a:prstGeom>
          <a:solidFill>
            <a:srgbClr val="F4F7F7"/>
          </a:solidFill>
          <a:ln/>
        </p:spPr>
      </p:sp>
      <p:sp>
        <p:nvSpPr>
          <p:cNvPr id="10" name="Text 7"/>
          <p:cNvSpPr/>
          <p:nvPr/>
        </p:nvSpPr>
        <p:spPr>
          <a:xfrm>
            <a:off x="8412480" y="2743200"/>
            <a:ext cx="1828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Rarely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10241280" y="2743200"/>
            <a:ext cx="1188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1D35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71%</a:t>
            </a:r>
            <a:endParaRPr lang="en-US" sz="1800" dirty="0"/>
          </a:p>
        </p:txBody>
      </p:sp>
      <p:sp>
        <p:nvSpPr>
          <p:cNvPr id="12" name="Shape 9"/>
          <p:cNvSpPr/>
          <p:nvPr/>
        </p:nvSpPr>
        <p:spPr>
          <a:xfrm>
            <a:off x="8229600" y="3520440"/>
            <a:ext cx="3383280" cy="594360"/>
          </a:xfrm>
          <a:prstGeom prst="roundRect">
            <a:avLst>
              <a:gd name="adj" fmla="val 9231"/>
            </a:avLst>
          </a:prstGeom>
          <a:solidFill>
            <a:srgbClr val="F4F7F7"/>
          </a:solidFill>
          <a:ln/>
        </p:spPr>
      </p:sp>
      <p:sp>
        <p:nvSpPr>
          <p:cNvPr id="13" name="Text 10"/>
          <p:cNvSpPr/>
          <p:nvPr/>
        </p:nvSpPr>
        <p:spPr>
          <a:xfrm>
            <a:off x="8412480" y="3520440"/>
            <a:ext cx="1828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Sometimes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10241280" y="3520440"/>
            <a:ext cx="1188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1D35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77%</a:t>
            </a:r>
            <a:endParaRPr lang="en-US" sz="1800" dirty="0"/>
          </a:p>
        </p:txBody>
      </p:sp>
      <p:sp>
        <p:nvSpPr>
          <p:cNvPr id="15" name="Shape 12"/>
          <p:cNvSpPr/>
          <p:nvPr/>
        </p:nvSpPr>
        <p:spPr>
          <a:xfrm>
            <a:off x="8229600" y="4297680"/>
            <a:ext cx="3383280" cy="594360"/>
          </a:xfrm>
          <a:prstGeom prst="roundRect">
            <a:avLst>
              <a:gd name="adj" fmla="val 9231"/>
            </a:avLst>
          </a:prstGeom>
          <a:solidFill>
            <a:srgbClr val="E76F51"/>
          </a:solidFill>
          <a:ln/>
        </p:spPr>
      </p:sp>
      <p:sp>
        <p:nvSpPr>
          <p:cNvPr id="16" name="Text 13"/>
          <p:cNvSpPr/>
          <p:nvPr/>
        </p:nvSpPr>
        <p:spPr>
          <a:xfrm>
            <a:off x="8412480" y="4297680"/>
            <a:ext cx="1828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Often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10241280" y="4297680"/>
            <a:ext cx="1188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85%</a:t>
            </a:r>
            <a:endParaRPr lang="en-US" sz="1800" dirty="0"/>
          </a:p>
        </p:txBody>
      </p:sp>
      <p:sp>
        <p:nvSpPr>
          <p:cNvPr id="18" name="Text 15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Mental Health in Tech Survey  |  EDA &amp; Insights</a:t>
            </a:r>
            <a:endParaRPr lang="en-US" sz="900" dirty="0"/>
          </a:p>
        </p:txBody>
      </p:sp>
      <p:sp>
        <p:nvSpPr>
          <p:cNvPr id="19" name="Text 16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76F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DRIVES TREATMENT · 03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D35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Communication Matters More Than the Benefit Itself</a:t>
            </a:r>
            <a:endParaRPr lang="en-US" sz="2500" dirty="0"/>
          </a:p>
        </p:txBody>
      </p:sp>
      <p:pic>
        <p:nvPicPr>
          <p:cNvPr id="4" name="Image 0" descr="/home/claude/chart_imgs/benefits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11480" y="1508760"/>
            <a:ext cx="5623560" cy="4480560"/>
          </a:xfrm>
          <a:prstGeom prst="rect">
            <a:avLst/>
          </a:prstGeom>
        </p:spPr>
      </p:pic>
      <p:pic>
        <p:nvPicPr>
          <p:cNvPr id="5" name="Image 1" descr="/home/claude/chart_imgs/care_options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6172200" y="1508760"/>
            <a:ext cx="5623560" cy="448056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548640" y="608076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Treatment rate: 63.8% (benefits offered) vs 37.1% (unsure if offered)  —  a 26.7-point gap driven by awareness, not just the benefit.</a:t>
            </a:r>
            <a:endParaRPr lang="en-US" sz="1200" dirty="0"/>
          </a:p>
        </p:txBody>
      </p:sp>
      <p:sp>
        <p:nvSpPr>
          <p:cNvPr id="7" name="Text 3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Mental Health in Tech Survey  |  EDA &amp; Insights</a:t>
            </a:r>
            <a:endParaRPr lang="en-US" sz="900" dirty="0"/>
          </a:p>
        </p:txBody>
      </p:sp>
      <p:sp>
        <p:nvSpPr>
          <p:cNvPr id="8" name="Text 4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76F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COMMUNICATION GAP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D35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Employees Don't Know What's Available to Them</a:t>
            </a:r>
            <a:endParaRPr lang="en-US" sz="2600" dirty="0"/>
          </a:p>
        </p:txBody>
      </p:sp>
      <p:pic>
        <p:nvPicPr>
          <p:cNvPr id="4" name="Image 0" descr="/home/claude/chart_imgs/anonymity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11480" y="1508760"/>
            <a:ext cx="5623560" cy="4480560"/>
          </a:xfrm>
          <a:prstGeom prst="rect">
            <a:avLst/>
          </a:prstGeom>
        </p:spPr>
      </p:pic>
      <p:pic>
        <p:nvPicPr>
          <p:cNvPr id="5" name="Image 1" descr="/home/claude/chart_imgs/leave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6172200" y="1508760"/>
            <a:ext cx="5623560" cy="448056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548640" y="608076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65% don't know if anonymity is protected  ·  45% don't know how easy mental-health leave would be to take.</a:t>
            </a:r>
            <a:endParaRPr lang="en-US" sz="1200" dirty="0"/>
          </a:p>
        </p:txBody>
      </p:sp>
      <p:sp>
        <p:nvSpPr>
          <p:cNvPr id="7" name="Text 3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Mental Health in Tech Survey  |  EDA &amp; Insights</a:t>
            </a:r>
            <a:endParaRPr lang="en-US" sz="900" dirty="0"/>
          </a:p>
        </p:txBody>
      </p:sp>
      <p:sp>
        <p:nvSpPr>
          <p:cNvPr id="8" name="Text 4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76F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FULL PICTURE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D35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All Variables Relate to One Another</a:t>
            </a:r>
            <a:endParaRPr lang="en-US" sz="2700" dirty="0"/>
          </a:p>
        </p:txBody>
      </p:sp>
      <p:pic>
        <p:nvPicPr>
          <p:cNvPr id="4" name="Image 0" descr="/home/claude/chart_imgs/heatmap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920240" y="1417320"/>
            <a:ext cx="8321040" cy="50749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Mental Health in Tech Survey  |  EDA &amp; Insights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D355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FB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the Data Tells Us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66928" cy="566928"/>
          </a:xfrm>
          <a:prstGeom prst="ellipse">
            <a:avLst/>
          </a:prstGeom>
          <a:solidFill>
            <a:srgbClr val="6FB3B8"/>
          </a:solidFill>
          <a:ln/>
        </p:spPr>
      </p:sp>
      <p:pic>
        <p:nvPicPr>
          <p:cNvPr id="5" name="Image 0" descr="/home/claude/icons/heartbeat_1D3557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819656"/>
            <a:ext cx="292608" cy="29260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325880" y="1664208"/>
            <a:ext cx="9875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 history matters most</a:t>
            </a:r>
            <a:endParaRPr lang="en-US" sz="1550" dirty="0"/>
          </a:p>
        </p:txBody>
      </p:sp>
      <p:sp>
        <p:nvSpPr>
          <p:cNvPr id="7" name="Text 4"/>
          <p:cNvSpPr/>
          <p:nvPr/>
        </p:nvSpPr>
        <p:spPr>
          <a:xfrm>
            <a:off x="1325880" y="2039112"/>
            <a:ext cx="98755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CADC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Family history of mental illness is the single strongest predictor of treatment-seeking (74% vs 35%).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548640" y="2770632"/>
            <a:ext cx="566928" cy="566928"/>
          </a:xfrm>
          <a:prstGeom prst="ellipse">
            <a:avLst/>
          </a:prstGeom>
          <a:solidFill>
            <a:srgbClr val="6FB3B8"/>
          </a:solidFill>
          <a:ln/>
        </p:spPr>
      </p:sp>
      <p:pic>
        <p:nvPicPr>
          <p:cNvPr id="9" name="Image 1" descr="/home/claude/icons/chart_1D3557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2898648"/>
            <a:ext cx="292608" cy="292608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325880" y="2743200"/>
            <a:ext cx="9875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Interference is a warning sign</a:t>
            </a:r>
            <a:endParaRPr lang="en-US" sz="1550" dirty="0"/>
          </a:p>
        </p:txBody>
      </p:sp>
      <p:sp>
        <p:nvSpPr>
          <p:cNvPr id="11" name="Text 7"/>
          <p:cNvSpPr/>
          <p:nvPr/>
        </p:nvSpPr>
        <p:spPr>
          <a:xfrm>
            <a:off x="1325880" y="3118104"/>
            <a:ext cx="98755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CADC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Treatment-seeking rises from 14% to 85% as self-reported work interference increases.</a:t>
            </a:r>
            <a:endParaRPr lang="en-US" sz="1250" dirty="0"/>
          </a:p>
        </p:txBody>
      </p:sp>
      <p:sp>
        <p:nvSpPr>
          <p:cNvPr id="12" name="Shape 8"/>
          <p:cNvSpPr/>
          <p:nvPr/>
        </p:nvSpPr>
        <p:spPr>
          <a:xfrm>
            <a:off x="548640" y="3849624"/>
            <a:ext cx="566928" cy="566928"/>
          </a:xfrm>
          <a:prstGeom prst="ellipse">
            <a:avLst/>
          </a:prstGeom>
          <a:solidFill>
            <a:srgbClr val="6FB3B8"/>
          </a:solidFill>
          <a:ln/>
        </p:spPr>
      </p:sp>
      <p:pic>
        <p:nvPicPr>
          <p:cNvPr id="13" name="Image 2" descr="/home/claude/icons/bullhorn_1D3557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3977640"/>
            <a:ext cx="292608" cy="292608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325880" y="3822192"/>
            <a:ext cx="9875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Awareness beats provision</a:t>
            </a:r>
            <a:endParaRPr lang="en-US" sz="1550" dirty="0"/>
          </a:p>
        </p:txBody>
      </p:sp>
      <p:sp>
        <p:nvSpPr>
          <p:cNvPr id="15" name="Text 10"/>
          <p:cNvSpPr/>
          <p:nvPr/>
        </p:nvSpPr>
        <p:spPr>
          <a:xfrm>
            <a:off x="1325880" y="4197096"/>
            <a:ext cx="98755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CADC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Knowing about benefits and care options lifts treatment rates more than the benefit's mere existence.</a:t>
            </a:r>
            <a:endParaRPr lang="en-US" sz="1250" dirty="0"/>
          </a:p>
        </p:txBody>
      </p:sp>
      <p:sp>
        <p:nvSpPr>
          <p:cNvPr id="16" name="Shape 11"/>
          <p:cNvSpPr/>
          <p:nvPr/>
        </p:nvSpPr>
        <p:spPr>
          <a:xfrm>
            <a:off x="548640" y="4928616"/>
            <a:ext cx="566928" cy="566928"/>
          </a:xfrm>
          <a:prstGeom prst="ellipse">
            <a:avLst/>
          </a:prstGeom>
          <a:solidFill>
            <a:srgbClr val="6FB3B8"/>
          </a:solidFill>
          <a:ln/>
        </p:spPr>
      </p:sp>
      <p:pic>
        <p:nvPicPr>
          <p:cNvPr id="17" name="Image 3" descr="/home/claude/icons/shield_1D3557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" y="5056632"/>
            <a:ext cx="292608" cy="292608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1325880" y="4901184"/>
            <a:ext cx="9875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Privacy uncertainty holds people back</a:t>
            </a:r>
            <a:endParaRPr lang="en-US" sz="1550" dirty="0"/>
          </a:p>
        </p:txBody>
      </p:sp>
      <p:sp>
        <p:nvSpPr>
          <p:cNvPr id="19" name="Text 13"/>
          <p:cNvSpPr/>
          <p:nvPr/>
        </p:nvSpPr>
        <p:spPr>
          <a:xfrm>
            <a:off x="1325880" y="5276088"/>
            <a:ext cx="98755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CADC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65% don't know if anonymity is protected; 45% don't know their leave options.</a:t>
            </a:r>
            <a:endParaRPr lang="en-US" sz="1250" dirty="0"/>
          </a:p>
        </p:txBody>
      </p:sp>
      <p:sp>
        <p:nvSpPr>
          <p:cNvPr id="20" name="Text 14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AFC3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Mental Health in Tech Survey  |  EDA &amp; Insights</a:t>
            </a:r>
            <a:endParaRPr lang="en-US" sz="900" dirty="0"/>
          </a:p>
        </p:txBody>
      </p:sp>
      <p:sp>
        <p:nvSpPr>
          <p:cNvPr id="21" name="Text 15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FC3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76F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D35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Tech Employers Should Do Next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11109960" cy="786384"/>
          </a:xfrm>
          <a:prstGeom prst="roundRect">
            <a:avLst>
              <a:gd name="adj" fmla="val 6977"/>
            </a:avLst>
          </a:prstGeom>
          <a:solidFill>
            <a:srgbClr val="F4F7F7"/>
          </a:solidFill>
          <a:ln w="9525">
            <a:solidFill>
              <a:srgbClr val="E5E9E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49808" y="1856232"/>
            <a:ext cx="457200" cy="457200"/>
          </a:xfrm>
          <a:prstGeom prst="ellipse">
            <a:avLst/>
          </a:prstGeom>
          <a:solidFill>
            <a:srgbClr val="1D3557"/>
          </a:solidFill>
          <a:ln/>
        </p:spPr>
      </p:sp>
      <p:sp>
        <p:nvSpPr>
          <p:cNvPr id="6" name="Text 4"/>
          <p:cNvSpPr/>
          <p:nvPr/>
        </p:nvSpPr>
        <p:spPr>
          <a:xfrm>
            <a:off x="749808" y="185623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417320" y="1764792"/>
            <a:ext cx="4114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D3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Communicate benefits proactively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669280" y="1764792"/>
            <a:ext cx="5806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 the awareness gap — don't let "don't know" outnumber "yes."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48640" y="2606040"/>
            <a:ext cx="11109960" cy="786384"/>
          </a:xfrm>
          <a:prstGeom prst="roundRect">
            <a:avLst>
              <a:gd name="adj" fmla="val 6977"/>
            </a:avLst>
          </a:prstGeom>
          <a:solidFill>
            <a:srgbClr val="FFFFFF"/>
          </a:solidFill>
          <a:ln w="9525">
            <a:solidFill>
              <a:srgbClr val="E5E9E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49808" y="2770632"/>
            <a:ext cx="457200" cy="457200"/>
          </a:xfrm>
          <a:prstGeom prst="ellipse">
            <a:avLst/>
          </a:prstGeom>
          <a:solidFill>
            <a:srgbClr val="1D3557"/>
          </a:solidFill>
          <a:ln/>
        </p:spPr>
      </p:sp>
      <p:sp>
        <p:nvSpPr>
          <p:cNvPr id="11" name="Text 9"/>
          <p:cNvSpPr/>
          <p:nvPr/>
        </p:nvSpPr>
        <p:spPr>
          <a:xfrm>
            <a:off x="749808" y="277063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417320" y="2679192"/>
            <a:ext cx="4114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D3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Clarify anonymity protections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669280" y="2679192"/>
            <a:ext cx="5806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Publish a simple, visible policy on confidentiality for care resources.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48640" y="3520440"/>
            <a:ext cx="11109960" cy="786384"/>
          </a:xfrm>
          <a:prstGeom prst="roundRect">
            <a:avLst>
              <a:gd name="adj" fmla="val 6977"/>
            </a:avLst>
          </a:prstGeom>
          <a:solidFill>
            <a:srgbClr val="F4F7F7"/>
          </a:solidFill>
          <a:ln w="9525">
            <a:solidFill>
              <a:srgbClr val="E5E9E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49808" y="3685032"/>
            <a:ext cx="457200" cy="457200"/>
          </a:xfrm>
          <a:prstGeom prst="ellipse">
            <a:avLst/>
          </a:prstGeom>
          <a:solidFill>
            <a:srgbClr val="1D3557"/>
          </a:solidFill>
          <a:ln/>
        </p:spPr>
      </p:sp>
      <p:sp>
        <p:nvSpPr>
          <p:cNvPr id="16" name="Text 14"/>
          <p:cNvSpPr/>
          <p:nvPr/>
        </p:nvSpPr>
        <p:spPr>
          <a:xfrm>
            <a:off x="749808" y="368503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417320" y="3593592"/>
            <a:ext cx="4114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D3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Normalize mental health leave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5669280" y="3593592"/>
            <a:ext cx="5806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clear, no-stigma leave policy removes a major source of uncertainty.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48640" y="4434840"/>
            <a:ext cx="11109960" cy="786384"/>
          </a:xfrm>
          <a:prstGeom prst="roundRect">
            <a:avLst>
              <a:gd name="adj" fmla="val 6977"/>
            </a:avLst>
          </a:prstGeom>
          <a:solidFill>
            <a:srgbClr val="FFFFFF"/>
          </a:solidFill>
          <a:ln w="9525">
            <a:solidFill>
              <a:srgbClr val="E5E9E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49808" y="4599432"/>
            <a:ext cx="457200" cy="457200"/>
          </a:xfrm>
          <a:prstGeom prst="ellipse">
            <a:avLst/>
          </a:prstGeom>
          <a:solidFill>
            <a:srgbClr val="1D3557"/>
          </a:solidFill>
          <a:ln/>
        </p:spPr>
      </p:sp>
      <p:sp>
        <p:nvSpPr>
          <p:cNvPr id="21" name="Text 19"/>
          <p:cNvSpPr/>
          <p:nvPr/>
        </p:nvSpPr>
        <p:spPr>
          <a:xfrm>
            <a:off x="749808" y="459943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417320" y="4507992"/>
            <a:ext cx="4114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D3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managers on early signals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5669280" y="4507992"/>
            <a:ext cx="5806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 interference rises before a crisis — equip supervisors to notice and respond.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548640" y="5349240"/>
            <a:ext cx="11109960" cy="786384"/>
          </a:xfrm>
          <a:prstGeom prst="roundRect">
            <a:avLst>
              <a:gd name="adj" fmla="val 6977"/>
            </a:avLst>
          </a:prstGeom>
          <a:solidFill>
            <a:srgbClr val="F4F7F7"/>
          </a:solidFill>
          <a:ln w="9525">
            <a:solidFill>
              <a:srgbClr val="E5E9EA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49808" y="5513832"/>
            <a:ext cx="457200" cy="457200"/>
          </a:xfrm>
          <a:prstGeom prst="ellipse">
            <a:avLst/>
          </a:prstGeom>
          <a:solidFill>
            <a:srgbClr val="1D3557"/>
          </a:solidFill>
          <a:ln/>
        </p:spPr>
      </p:sp>
      <p:sp>
        <p:nvSpPr>
          <p:cNvPr id="26" name="Text 24"/>
          <p:cNvSpPr/>
          <p:nvPr/>
        </p:nvSpPr>
        <p:spPr>
          <a:xfrm>
            <a:off x="749808" y="551383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1417320" y="5422392"/>
            <a:ext cx="4114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D3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Offer opt-in, confidential outreach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5669280" y="5422392"/>
            <a:ext cx="5806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higher-risk groups (e.g., family history) without requiring disclosure.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Mental Health in Tech Survey  |  EDA &amp; Insights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D355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-1554480"/>
            <a:ext cx="4754880" cy="4754880"/>
          </a:xfrm>
          <a:prstGeom prst="ellipse">
            <a:avLst/>
          </a:prstGeom>
          <a:solidFill>
            <a:srgbClr val="24425A"/>
          </a:solidFill>
          <a:ln/>
        </p:spPr>
      </p:sp>
      <p:sp>
        <p:nvSpPr>
          <p:cNvPr id="3" name="Shape 1"/>
          <p:cNvSpPr/>
          <p:nvPr/>
        </p:nvSpPr>
        <p:spPr>
          <a:xfrm>
            <a:off x="9601200" y="3840480"/>
            <a:ext cx="4114800" cy="4114800"/>
          </a:xfrm>
          <a:prstGeom prst="ellipse">
            <a:avLst/>
          </a:prstGeom>
          <a:solidFill>
            <a:srgbClr val="24425A"/>
          </a:solidFill>
          <a:ln/>
        </p:spPr>
      </p:sp>
      <p:sp>
        <p:nvSpPr>
          <p:cNvPr id="4" name="Shape 2"/>
          <p:cNvSpPr/>
          <p:nvPr/>
        </p:nvSpPr>
        <p:spPr>
          <a:xfrm>
            <a:off x="5394960" y="1188720"/>
            <a:ext cx="822960" cy="822960"/>
          </a:xfrm>
          <a:prstGeom prst="ellipse">
            <a:avLst/>
          </a:prstGeom>
          <a:solidFill>
            <a:srgbClr val="6FB3B8"/>
          </a:solidFill>
          <a:ln/>
        </p:spPr>
      </p:sp>
      <p:pic>
        <p:nvPicPr>
          <p:cNvPr id="5" name="Image 0" descr="/home/claude/icons/hands_FFFFF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96128" y="1389888"/>
            <a:ext cx="420624" cy="42062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522476" y="2286000"/>
            <a:ext cx="91440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Closing the Communication Gap Is the Single Most Actionable Lever</a:t>
            </a:r>
            <a:endParaRPr lang="en-US" sz="2600" dirty="0"/>
          </a:p>
        </p:txBody>
      </p:sp>
      <p:sp>
        <p:nvSpPr>
          <p:cNvPr id="7" name="Text 4"/>
          <p:cNvSpPr/>
          <p:nvPr/>
        </p:nvSpPr>
        <p:spPr>
          <a:xfrm>
            <a:off x="2436876" y="356616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CADC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employers already have most of the tools — benefits, care options, leave policy. What's missing is clear, consistent, stigma-free communication about them.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1522476" y="484632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spc="200" kern="0" dirty="0">
                <a:solidFill>
                  <a:srgbClr val="6FB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AFC3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Mental Health in Tech Survey  |  EDA &amp; Insights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FC3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2026-09-15T05:20:59Z</dcterms:created>
  <dcterms:modified xsi:type="dcterms:W3CDTF">2026-09-15T05:20:59Z</dcterms:modified>
</cp:coreProperties>
</file>